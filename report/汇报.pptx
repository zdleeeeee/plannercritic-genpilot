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5" r:id="rId9"/>
    <p:sldId id="263" r:id="rId10"/>
    <p:sldId id="264" r:id="rId11"/>
    <p:sldId id="265" r:id="rId12"/>
    <p:sldId id="266" r:id="rId13"/>
    <p:sldId id="267" r:id="rId14"/>
    <p:sldId id="268" r:id="rId15"/>
    <p:sldId id="273" r:id="rId16"/>
    <p:sldId id="269" r:id="rId17"/>
    <p:sldId id="270" r:id="rId18"/>
    <p:sldId id="274" r:id="rId19"/>
    <p:sldId id="271" r:id="rId20"/>
  </p:sldIdLst>
  <p:sldSz cx="16256000" cy="9144000"/>
  <p:notesSz cx="9144000" cy="16256000"/>
  <p:embeddedFontLst>
    <p:embeddedFont>
      <p:font typeface="Liter" panose="02010600030101010101" charset="0"/>
      <p:regular r:id="rId22"/>
    </p:embeddedFont>
    <p:embeddedFont>
      <p:font typeface="微软雅黑" panose="020B0503020204020204" pitchFamily="34" charset="-122"/>
      <p:regular r:id="rId23"/>
      <p:bold r:id="rId2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7A878B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B1</c:v>
                </c:pt>
                <c:pt idx="1">
                  <c:v>B2</c:v>
                </c:pt>
                <c:pt idx="2">
                  <c:v>B3</c:v>
                </c:pt>
                <c:pt idx="3">
                  <c:v>B4</c:v>
                </c:pt>
                <c:pt idx="4">
                  <c:v>B5</c:v>
                </c:pt>
                <c:pt idx="5">
                  <c:v>B6</c:v>
                </c:pt>
                <c:pt idx="6">
                  <c:v>B7</c:v>
                </c:pt>
                <c:pt idx="7">
                  <c:v>B8</c:v>
                </c:pt>
                <c:pt idx="8">
                  <c:v>B9</c:v>
                </c:pt>
                <c:pt idx="9">
                  <c:v>B10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13.5</c:v>
                </c:pt>
                <c:pt idx="1">
                  <c:v>13.87</c:v>
                </c:pt>
                <c:pt idx="2">
                  <c:v>13.371</c:v>
                </c:pt>
                <c:pt idx="3">
                  <c:v>12.288</c:v>
                </c:pt>
                <c:pt idx="4">
                  <c:v>12.69</c:v>
                </c:pt>
                <c:pt idx="5">
                  <c:v>13.85</c:v>
                </c:pt>
                <c:pt idx="6">
                  <c:v>13.211</c:v>
                </c:pt>
                <c:pt idx="7">
                  <c:v>13.587999999999999</c:v>
                </c:pt>
                <c:pt idx="8">
                  <c:v>13.242000000000001</c:v>
                </c:pt>
                <c:pt idx="9">
                  <c:v>13.875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B8-4D4F-8AA9-EB15229BAC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CriticPilot</c:v>
                </c:pt>
              </c:strCache>
            </c:strRef>
          </c:tx>
          <c:spPr>
            <a:solidFill>
              <a:srgbClr val="5C8E8F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B1</c:v>
                </c:pt>
                <c:pt idx="1">
                  <c:v>B2</c:v>
                </c:pt>
                <c:pt idx="2">
                  <c:v>B3</c:v>
                </c:pt>
                <c:pt idx="3">
                  <c:v>B4</c:v>
                </c:pt>
                <c:pt idx="4">
                  <c:v>B5</c:v>
                </c:pt>
                <c:pt idx="5">
                  <c:v>B6</c:v>
                </c:pt>
                <c:pt idx="6">
                  <c:v>B7</c:v>
                </c:pt>
                <c:pt idx="7">
                  <c:v>B8</c:v>
                </c:pt>
                <c:pt idx="8">
                  <c:v>B9</c:v>
                </c:pt>
                <c:pt idx="9">
                  <c:v>B10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13.605</c:v>
                </c:pt>
                <c:pt idx="1">
                  <c:v>14.316000000000001</c:v>
                </c:pt>
                <c:pt idx="2">
                  <c:v>13.871</c:v>
                </c:pt>
                <c:pt idx="3">
                  <c:v>13.13</c:v>
                </c:pt>
                <c:pt idx="4">
                  <c:v>13.39</c:v>
                </c:pt>
                <c:pt idx="5">
                  <c:v>13.817</c:v>
                </c:pt>
                <c:pt idx="6">
                  <c:v>13.628</c:v>
                </c:pt>
                <c:pt idx="7">
                  <c:v>14.045</c:v>
                </c:pt>
                <c:pt idx="8">
                  <c:v>13.468999999999999</c:v>
                </c:pt>
                <c:pt idx="9">
                  <c:v>14.333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B8-4D4F-8AA9-EB15229BAC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11"/>
        </c:scaling>
        <c:delete val="0"/>
        <c:axPos val="l"/>
        <c:majorGridlines>
          <c:spPr>
            <a:ln w="12700" cap="flat">
              <a:solidFill>
                <a:srgbClr val="DCDC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7A87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7A878B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B1</c:v>
                </c:pt>
                <c:pt idx="1">
                  <c:v>B2</c:v>
                </c:pt>
                <c:pt idx="2">
                  <c:v>B3</c:v>
                </c:pt>
                <c:pt idx="3">
                  <c:v>B4</c:v>
                </c:pt>
                <c:pt idx="4">
                  <c:v>B5</c:v>
                </c:pt>
                <c:pt idx="5">
                  <c:v>B6</c:v>
                </c:pt>
                <c:pt idx="6">
                  <c:v>B7</c:v>
                </c:pt>
                <c:pt idx="7">
                  <c:v>B8</c:v>
                </c:pt>
                <c:pt idx="8">
                  <c:v>B9</c:v>
                </c:pt>
                <c:pt idx="9">
                  <c:v>B10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</c:v>
                </c:pt>
                <c:pt idx="1">
                  <c:v>23</c:v>
                </c:pt>
                <c:pt idx="2">
                  <c:v>35</c:v>
                </c:pt>
                <c:pt idx="3">
                  <c:v>59</c:v>
                </c:pt>
                <c:pt idx="4">
                  <c:v>42</c:v>
                </c:pt>
                <c:pt idx="5">
                  <c:v>60</c:v>
                </c:pt>
                <c:pt idx="6">
                  <c:v>38</c:v>
                </c:pt>
                <c:pt idx="7">
                  <c:v>51</c:v>
                </c:pt>
                <c:pt idx="8">
                  <c:v>62</c:v>
                </c:pt>
                <c:pt idx="9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DA-40B2-BECD-358DFB861E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CriticPilot</c:v>
                </c:pt>
              </c:strCache>
            </c:strRef>
          </c:tx>
          <c:spPr>
            <a:solidFill>
              <a:srgbClr val="5C8E8F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B1</c:v>
                </c:pt>
                <c:pt idx="1">
                  <c:v>B2</c:v>
                </c:pt>
                <c:pt idx="2">
                  <c:v>B3</c:v>
                </c:pt>
                <c:pt idx="3">
                  <c:v>B4</c:v>
                </c:pt>
                <c:pt idx="4">
                  <c:v>B5</c:v>
                </c:pt>
                <c:pt idx="5">
                  <c:v>B6</c:v>
                </c:pt>
                <c:pt idx="6">
                  <c:v>B7</c:v>
                </c:pt>
                <c:pt idx="7">
                  <c:v>B8</c:v>
                </c:pt>
                <c:pt idx="8">
                  <c:v>B9</c:v>
                </c:pt>
                <c:pt idx="9">
                  <c:v>B10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38</c:v>
                </c:pt>
                <c:pt idx="1">
                  <c:v>19</c:v>
                </c:pt>
                <c:pt idx="2">
                  <c:v>31</c:v>
                </c:pt>
                <c:pt idx="3">
                  <c:v>54</c:v>
                </c:pt>
                <c:pt idx="4">
                  <c:v>41</c:v>
                </c:pt>
                <c:pt idx="5">
                  <c:v>60</c:v>
                </c:pt>
                <c:pt idx="6">
                  <c:v>43</c:v>
                </c:pt>
                <c:pt idx="7">
                  <c:v>44</c:v>
                </c:pt>
                <c:pt idx="8">
                  <c:v>64</c:v>
                </c:pt>
                <c:pt idx="9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DA-40B2-BECD-358DFB861E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DC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7A87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473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841F6-1264-6532-A390-B972E7259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3FCF6B-691F-58F8-E594-979E36CD0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21A52-8762-6068-3860-4258E991B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DB236-76FB-559E-DAD0-71052E3FC7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453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04CD4-AB6A-AA93-B3EB-E433E7CDC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B83F9-252E-82EC-E60A-294B591BB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3A2D70-48F8-2F4C-6DA6-D6A47AFF3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61EF0-DCF4-4704-F2B0-DD93E6CD82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163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0C043-99A4-848A-337D-976A747EE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A91F0-F0CD-E44F-B70F-966528C2F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508D6A-235E-B576-CCD8-7E2041C19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4A9E3-82C2-4247-9927-81E4BE5F0B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3693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dleeeeee/PlannerCritic-GenPilo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dleeeeee/PlannerCritic-GenPilot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524000"/>
          </a:xfrm>
          <a:prstGeom prst="rect">
            <a:avLst/>
          </a:prstGeom>
          <a:gradFill flip="none" rotWithShape="1">
            <a:gsLst>
              <a:gs pos="0">
                <a:srgbClr val="5C8E8F">
                  <a:alpha val="3000"/>
                </a:srgbClr>
              </a:gs>
              <a:gs pos="50000">
                <a:srgbClr val="5C8E8F">
                  <a:alpha val="7000"/>
                </a:srgbClr>
              </a:gs>
              <a:gs pos="100000">
                <a:srgbClr val="5C8E8F">
                  <a:alpha val="3000"/>
                </a:srgbClr>
              </a:gs>
            </a:gsLst>
            <a:lin ang="27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016000" y="2540000"/>
            <a:ext cx="1422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CriticPilot: GenPilot with Planner-Critic Mechanism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16000" y="4572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7A87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计算机图形学A（2026春季·复旦大学）— 项目三汇报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223000" y="5334000"/>
            <a:ext cx="3810000" cy="25400"/>
          </a:xfrm>
          <a:prstGeom prst="rect">
            <a:avLst/>
          </a:prstGeom>
          <a:solidFill>
            <a:srgbClr val="5C8E8F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5715000"/>
            <a:ext cx="1422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汇报人：李泽栋、颜皓鹏</a:t>
            </a:r>
            <a:r>
              <a:rPr lang="en-US" sz="180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、沈子轩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代码开源：</a:t>
            </a:r>
            <a:r>
              <a:rPr lang="en-US" sz="1800" u="sng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github.com/zdleeeeee/PlannerCritic-GenPilot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7620000"/>
            <a:ext cx="16256000" cy="1524000"/>
          </a:xfrm>
          <a:prstGeom prst="rect">
            <a:avLst/>
          </a:prstGeom>
          <a:gradFill flip="none" rotWithShape="1">
            <a:gsLst>
              <a:gs pos="0">
                <a:srgbClr val="5C8E8F">
                  <a:alpha val="3000"/>
                </a:srgbClr>
              </a:gs>
              <a:gs pos="50000">
                <a:srgbClr val="5C8E8F">
                  <a:alpha val="7000"/>
                </a:srgbClr>
              </a:gs>
              <a:gs pos="100000">
                <a:srgbClr val="5C8E8F">
                  <a:alpha val="3000"/>
                </a:srgbClr>
              </a:gs>
            </a:gsLst>
            <a:lin ang="18900000" scaled="1"/>
          </a:gra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508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524000"/>
            <a:ext cx="762000" cy="38100"/>
          </a:xfrm>
          <a:prstGeom prst="rect">
            <a:avLst/>
          </a:prstGeom>
          <a:solidFill>
            <a:srgbClr val="5C8E8F"/>
          </a:solidFill>
          <a:ln/>
        </p:spPr>
      </p:sp>
      <p:sp>
        <p:nvSpPr>
          <p:cNvPr id="4" name="Shape 2"/>
          <p:cNvSpPr/>
          <p:nvPr/>
        </p:nvSpPr>
        <p:spPr>
          <a:xfrm>
            <a:off x="1016000" y="1777999"/>
            <a:ext cx="7874000" cy="6885709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194792"/>
            <a:ext cx="685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dirty="0">
                <a:solidFill>
                  <a:srgbClr val="5C8E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01.</a:t>
            </a:r>
            <a:r>
              <a:rPr lang="en-US" sz="26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研究背景与问题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4000" y="3338946"/>
            <a:ext cx="685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dirty="0">
                <a:solidFill>
                  <a:srgbClr val="5C8E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02.</a:t>
            </a:r>
            <a:r>
              <a:rPr lang="en-US" sz="26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CriticPilot方案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4627416"/>
            <a:ext cx="685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dirty="0">
                <a:solidFill>
                  <a:srgbClr val="5C8E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r>
              <a:rPr lang="en-US" sz="3600">
                <a:solidFill>
                  <a:srgbClr val="5C8E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r>
              <a:rPr lang="en-US" sz="260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zh-CN" altLang="en-US" sz="260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结果展示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4000" y="5906651"/>
            <a:ext cx="685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dirty="0">
                <a:solidFill>
                  <a:srgbClr val="5C8E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04.</a:t>
            </a:r>
            <a:r>
              <a:rPr lang="en-US" sz="26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结论与展望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0" y="2540000"/>
            <a:ext cx="4572000" cy="4572000"/>
          </a:xfrm>
          <a:prstGeom prst="donut">
            <a:avLst>
              <a:gd name="adj" fmla="val 30000"/>
            </a:avLst>
          </a:prstGeom>
          <a:gradFill flip="none" rotWithShape="1">
            <a:gsLst>
              <a:gs pos="0">
                <a:srgbClr val="5C8E8F">
                  <a:alpha val="13000"/>
                </a:srgbClr>
              </a:gs>
              <a:gs pos="100000">
                <a:srgbClr val="5C8E8F">
                  <a:alpha val="2000"/>
                </a:srgbClr>
              </a:gs>
            </a:gsLst>
            <a:path path="circle"/>
          </a:gradFill>
          <a:ln/>
        </p:spPr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F6412FD-F670-D229-F1A0-815E1626BAD0}"/>
              </a:ext>
            </a:extLst>
          </p:cNvPr>
          <p:cNvSpPr/>
          <p:nvPr/>
        </p:nvSpPr>
        <p:spPr>
          <a:xfrm>
            <a:off x="1524000" y="7112000"/>
            <a:ext cx="685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>
                <a:solidFill>
                  <a:srgbClr val="5C8E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r>
              <a:rPr lang="en-US" altLang="zh-CN" sz="3600">
                <a:solidFill>
                  <a:srgbClr val="5C8E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r>
              <a:rPr lang="en-US" sz="3600">
                <a:solidFill>
                  <a:srgbClr val="5C8E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r>
              <a:rPr lang="en-US" sz="260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zh-CN" altLang="en-US" sz="260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人员分工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5C8E8F">
                  <a:alpha val="2000"/>
                </a:srgbClr>
              </a:gs>
              <a:gs pos="25000">
                <a:srgbClr val="5C8E8F">
                  <a:alpha val="8000"/>
                </a:srgbClr>
              </a:gs>
              <a:gs pos="50000">
                <a:srgbClr val="5C8E8F">
                  <a:alpha val="2000"/>
                </a:srgbClr>
              </a:gs>
              <a:gs pos="75000">
                <a:srgbClr val="5C8E8F">
                  <a:alpha val="8000"/>
                </a:srgbClr>
              </a:gs>
              <a:gs pos="100000">
                <a:srgbClr val="5C8E8F">
                  <a:alpha val="2000"/>
                </a:srgbClr>
              </a:gs>
            </a:gsLst>
            <a:lin ang="18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016000" y="2540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5C8E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3555999"/>
            <a:ext cx="10160000" cy="1376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研究背景与问题</a:t>
            </a:r>
          </a:p>
          <a:p>
            <a:pPr>
              <a:lnSpc>
                <a:spcPct val="120000"/>
              </a:lnSpc>
            </a:pPr>
            <a:r>
              <a:rPr lang="en-US" altLang="zh-CN" sz="4000" b="1">
                <a:solidFill>
                  <a:schemeClr val="tx1">
                    <a:lumMod val="50000"/>
                    <a:lumOff val="50000"/>
                  </a:schemeClr>
                </a:solidFill>
                <a:latin typeface="Liter" pitchFamily="34" charset="0"/>
              </a:rPr>
              <a:t>- </a:t>
            </a:r>
            <a:r>
              <a:rPr lang="zh-CN" altLang="en-US" sz="4000" b="1">
                <a:solidFill>
                  <a:schemeClr val="tx1">
                    <a:lumMod val="50000"/>
                    <a:lumOff val="50000"/>
                  </a:schemeClr>
                </a:solidFill>
                <a:latin typeface="Liter" pitchFamily="34" charset="0"/>
              </a:rPr>
              <a:t>选题内容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016001" y="5346032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文本到图像生成中的测试时提示优化挑战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GenPilot的线性优化瓶颈分析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0" y="3810000"/>
            <a:ext cx="1524000" cy="1524000"/>
          </a:xfrm>
          <a:prstGeom prst="ellipse">
            <a:avLst/>
          </a:prstGeom>
          <a:solidFill>
            <a:srgbClr val="5C8E8F">
              <a:alpha val="12549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143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测试时提示优化与GenPilot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778000"/>
            <a:ext cx="6858000" cy="3048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70000" y="19685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背景：文本到图像生成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2425700"/>
            <a:ext cx="6350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T2I生成取得显著进展，但使生成图像精准符合复杂文本描述仍是开放挑战</a:t>
            </a:r>
            <a:endParaRPr lang="en-US" sz="24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0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测试时提示优化</a:t>
            </a:r>
            <a:r>
              <a:rPr lang="en-US" sz="20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：无需模型微调的轻量级方案，通过迭代改进提示词提升生成质量</a:t>
            </a:r>
            <a:endParaRPr lang="en-US" sz="24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受到广泛关注，是连接用户意图与生成质量的关键技术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382000" y="1778000"/>
            <a:ext cx="6858000" cy="3048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36000" y="19685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GenPilot：两阶段迭代优化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36000" y="2425700"/>
            <a:ext cx="6350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5C8E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阶段一 · 错误分析</a:t>
            </a:r>
            <a:endParaRPr lang="en-US" sz="24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利用VQA和Captioning智能体识别生成图像与提示词语义不一致</a:t>
            </a:r>
            <a:endParaRPr lang="en-US" sz="2400" dirty="0"/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5C8E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阶段二 · 提示词优化</a:t>
            </a:r>
            <a:endParaRPr lang="en-US" sz="24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生成候选修正，经评分聚类后选出最优者进入下一轮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16000" y="5207000"/>
            <a:ext cx="14224000" cy="1651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E09F7D">
                  <a:alpha val="8000"/>
                </a:srgbClr>
              </a:gs>
              <a:gs pos="100000">
                <a:srgbClr val="E09F7D">
                  <a:alpha val="2000"/>
                </a:srgbClr>
              </a:gs>
            </a:gsLst>
            <a:lin ang="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1397000" y="558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E09F7D"/>
          </a:solidFill>
          <a:ln/>
        </p:spPr>
      </p:sp>
      <p:sp>
        <p:nvSpPr>
          <p:cNvPr id="11" name="Text 9"/>
          <p:cNvSpPr/>
          <p:nvPr/>
        </p:nvSpPr>
        <p:spPr>
          <a:xfrm>
            <a:off x="2095500" y="5397500"/>
            <a:ext cx="1282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核心局限</a:t>
            </a: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：GenPilot采用</a:t>
            </a:r>
            <a:r>
              <a:rPr lang="en-US" sz="2000" b="1" dirty="0">
                <a:solidFill>
                  <a:srgbClr val="E09F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线性前馈管道</a:t>
            </a: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，缺乏内部验证机制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基于VQA的错误检测在复杂场景中不可靠 → 早期错误分析偏差 → 后续优化建立在错误前提之上 → </a:t>
            </a: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问题累积且无法自我纠正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16000" y="7239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7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来源：Yuan et al., "GenPilot", Findings of EMNLP 2025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143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GenPilot面临两大核心瓶颈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778000"/>
            <a:ext cx="6858000" cy="3302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16000" y="1778000"/>
            <a:ext cx="63500" cy="3302000"/>
          </a:xfrm>
          <a:prstGeom prst="rect">
            <a:avLst/>
          </a:prstGeom>
          <a:solidFill>
            <a:srgbClr val="E09F7D"/>
          </a:solidFill>
          <a:ln/>
        </p:spPr>
      </p:sp>
      <p:sp>
        <p:nvSpPr>
          <p:cNvPr id="5" name="Shape 3"/>
          <p:cNvSpPr/>
          <p:nvPr/>
        </p:nvSpPr>
        <p:spPr>
          <a:xfrm>
            <a:off x="13970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7306" y="4167"/>
                </a:moveTo>
                <a:cubicBezTo>
                  <a:pt x="27781" y="-2282"/>
                  <a:pt x="15081" y="-1091"/>
                  <a:pt x="6945" y="6945"/>
                </a:cubicBezTo>
                <a:cubicBezTo>
                  <a:pt x="-1191" y="14982"/>
                  <a:pt x="-2282" y="27781"/>
                  <a:pt x="4167" y="37306"/>
                </a:cubicBezTo>
                <a:lnTo>
                  <a:pt x="115292" y="199330"/>
                </a:lnTo>
                <a:lnTo>
                  <a:pt x="16470" y="231378"/>
                </a:lnTo>
                <a:cubicBezTo>
                  <a:pt x="6648" y="234553"/>
                  <a:pt x="0" y="243681"/>
                  <a:pt x="0" y="254000"/>
                </a:cubicBezTo>
                <a:cubicBezTo>
                  <a:pt x="0" y="264319"/>
                  <a:pt x="6648" y="273447"/>
                  <a:pt x="16470" y="276622"/>
                </a:cubicBezTo>
                <a:lnTo>
                  <a:pt x="118765" y="309761"/>
                </a:lnTo>
                <a:lnTo>
                  <a:pt x="66278" y="409575"/>
                </a:lnTo>
                <a:cubicBezTo>
                  <a:pt x="61416" y="418802"/>
                  <a:pt x="63103" y="430113"/>
                  <a:pt x="70545" y="437455"/>
                </a:cubicBezTo>
                <a:cubicBezTo>
                  <a:pt x="77986" y="444798"/>
                  <a:pt x="89198" y="446584"/>
                  <a:pt x="98425" y="441722"/>
                </a:cubicBezTo>
                <a:lnTo>
                  <a:pt x="198239" y="389235"/>
                </a:lnTo>
                <a:lnTo>
                  <a:pt x="231378" y="491530"/>
                </a:lnTo>
                <a:cubicBezTo>
                  <a:pt x="234553" y="501352"/>
                  <a:pt x="243681" y="508000"/>
                  <a:pt x="254000" y="508000"/>
                </a:cubicBezTo>
                <a:cubicBezTo>
                  <a:pt x="264319" y="508000"/>
                  <a:pt x="273447" y="501352"/>
                  <a:pt x="276622" y="491530"/>
                </a:cubicBezTo>
                <a:lnTo>
                  <a:pt x="309761" y="389235"/>
                </a:lnTo>
                <a:lnTo>
                  <a:pt x="409575" y="441722"/>
                </a:lnTo>
                <a:cubicBezTo>
                  <a:pt x="418802" y="446584"/>
                  <a:pt x="430113" y="444897"/>
                  <a:pt x="437455" y="437455"/>
                </a:cubicBezTo>
                <a:cubicBezTo>
                  <a:pt x="444798" y="430014"/>
                  <a:pt x="446584" y="418802"/>
                  <a:pt x="441722" y="409575"/>
                </a:cubicBezTo>
                <a:lnTo>
                  <a:pt x="389235" y="309761"/>
                </a:lnTo>
                <a:lnTo>
                  <a:pt x="491530" y="276622"/>
                </a:lnTo>
                <a:cubicBezTo>
                  <a:pt x="501352" y="273447"/>
                  <a:pt x="508000" y="264319"/>
                  <a:pt x="508000" y="254000"/>
                </a:cubicBezTo>
                <a:cubicBezTo>
                  <a:pt x="508000" y="243681"/>
                  <a:pt x="501352" y="234553"/>
                  <a:pt x="491530" y="231378"/>
                </a:cubicBezTo>
                <a:lnTo>
                  <a:pt x="385862" y="197148"/>
                </a:lnTo>
                <a:lnTo>
                  <a:pt x="411361" y="127298"/>
                </a:lnTo>
                <a:cubicBezTo>
                  <a:pt x="414536" y="118566"/>
                  <a:pt x="412353" y="108843"/>
                  <a:pt x="405805" y="102295"/>
                </a:cubicBezTo>
                <a:cubicBezTo>
                  <a:pt x="399256" y="95746"/>
                  <a:pt x="389533" y="93563"/>
                  <a:pt x="380802" y="96738"/>
                </a:cubicBezTo>
                <a:lnTo>
                  <a:pt x="310952" y="122237"/>
                </a:lnTo>
                <a:lnTo>
                  <a:pt x="276721" y="16570"/>
                </a:lnTo>
                <a:cubicBezTo>
                  <a:pt x="273447" y="6648"/>
                  <a:pt x="264319" y="0"/>
                  <a:pt x="254000" y="0"/>
                </a:cubicBezTo>
                <a:cubicBezTo>
                  <a:pt x="243681" y="0"/>
                  <a:pt x="234553" y="6648"/>
                  <a:pt x="231378" y="16470"/>
                </a:cubicBezTo>
                <a:lnTo>
                  <a:pt x="199330" y="115292"/>
                </a:lnTo>
                <a:lnTo>
                  <a:pt x="37306" y="4167"/>
                </a:lnTo>
                <a:close/>
              </a:path>
            </a:pathLst>
          </a:custGeom>
          <a:solidFill>
            <a:srgbClr val="E09F7D"/>
          </a:solidFill>
          <a:ln/>
        </p:spPr>
      </p:sp>
      <p:sp>
        <p:nvSpPr>
          <p:cNvPr id="6" name="Text 4"/>
          <p:cNvSpPr/>
          <p:nvPr/>
        </p:nvSpPr>
        <p:spPr>
          <a:xfrm>
            <a:off x="2095500" y="2032000"/>
            <a:ext cx="546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错误过载 Error Overload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97000" y="2730500"/>
            <a:ext cx="6223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0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问题</a:t>
            </a:r>
            <a:r>
              <a:rPr lang="en-US" sz="20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：细粒度错误分析产生大量冗余错误描述</a:t>
            </a:r>
            <a:endParaRPr lang="en-US" sz="24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实测单个提示词片段可达 </a:t>
            </a:r>
            <a:r>
              <a:rPr lang="en-US" sz="2000" b="1" dirty="0">
                <a:solidFill>
                  <a:srgbClr val="E09F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500余条</a:t>
            </a:r>
            <a:r>
              <a:rPr lang="en-US" sz="20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错误</a:t>
            </a:r>
            <a:endParaRPr lang="en-US" sz="24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优化目标发散，关键修正方向被掩盖</a:t>
            </a:r>
            <a:endParaRPr lang="en-US" sz="24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错误信号淹没真正需要关注的问题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382000" y="1778000"/>
            <a:ext cx="6858000" cy="3302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382000" y="1778000"/>
            <a:ext cx="63500" cy="3302000"/>
          </a:xfrm>
          <a:prstGeom prst="rect">
            <a:avLst/>
          </a:prstGeom>
          <a:solidFill>
            <a:srgbClr val="5C8E8F"/>
          </a:solidFill>
          <a:ln/>
        </p:spPr>
      </p:sp>
      <p:sp>
        <p:nvSpPr>
          <p:cNvPr id="10" name="Shape 8"/>
          <p:cNvSpPr/>
          <p:nvPr/>
        </p:nvSpPr>
        <p:spPr>
          <a:xfrm>
            <a:off x="8731250" y="2032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750" y="63500"/>
                </a:moveTo>
                <a:cubicBezTo>
                  <a:pt x="390922" y="63500"/>
                  <a:pt x="476250" y="148828"/>
                  <a:pt x="476250" y="254000"/>
                </a:cubicBezTo>
                <a:cubicBezTo>
                  <a:pt x="476250" y="359172"/>
                  <a:pt x="390922" y="444500"/>
                  <a:pt x="285750" y="444500"/>
                </a:cubicBezTo>
                <a:cubicBezTo>
                  <a:pt x="221059" y="444500"/>
                  <a:pt x="163810" y="412254"/>
                  <a:pt x="129381" y="362843"/>
                </a:cubicBezTo>
                <a:cubicBezTo>
                  <a:pt x="119360" y="348456"/>
                  <a:pt x="99516" y="344984"/>
                  <a:pt x="85130" y="355005"/>
                </a:cubicBezTo>
                <a:cubicBezTo>
                  <a:pt x="70743" y="365026"/>
                  <a:pt x="67270" y="384870"/>
                  <a:pt x="77291" y="399256"/>
                </a:cubicBezTo>
                <a:cubicBezTo>
                  <a:pt x="123130" y="464939"/>
                  <a:pt x="199430" y="508000"/>
                  <a:pt x="285750" y="508000"/>
                </a:cubicBezTo>
                <a:cubicBezTo>
                  <a:pt x="426045" y="508000"/>
                  <a:pt x="539750" y="394295"/>
                  <a:pt x="539750" y="254000"/>
                </a:cubicBezTo>
                <a:cubicBezTo>
                  <a:pt x="539750" y="113705"/>
                  <a:pt x="426045" y="0"/>
                  <a:pt x="285750" y="0"/>
                </a:cubicBezTo>
                <a:cubicBezTo>
                  <a:pt x="200720" y="0"/>
                  <a:pt x="125512" y="41771"/>
                  <a:pt x="79375" y="105866"/>
                </a:cubicBezTo>
                <a:lnTo>
                  <a:pt x="79375" y="79375"/>
                </a:lnTo>
                <a:cubicBezTo>
                  <a:pt x="79375" y="61813"/>
                  <a:pt x="65187" y="47625"/>
                  <a:pt x="47625" y="47625"/>
                </a:cubicBezTo>
                <a:cubicBezTo>
                  <a:pt x="30063" y="47625"/>
                  <a:pt x="15875" y="61813"/>
                  <a:pt x="15875" y="79375"/>
                </a:cubicBezTo>
                <a:lnTo>
                  <a:pt x="15875" y="190500"/>
                </a:lnTo>
                <a:cubicBezTo>
                  <a:pt x="15875" y="208062"/>
                  <a:pt x="30063" y="222250"/>
                  <a:pt x="47625" y="222250"/>
                </a:cubicBezTo>
                <a:lnTo>
                  <a:pt x="72033" y="222250"/>
                </a:lnTo>
                <a:cubicBezTo>
                  <a:pt x="72529" y="222250"/>
                  <a:pt x="73025" y="222250"/>
                  <a:pt x="73521" y="222250"/>
                </a:cubicBezTo>
                <a:lnTo>
                  <a:pt x="158849" y="222250"/>
                </a:lnTo>
                <a:cubicBezTo>
                  <a:pt x="176411" y="222250"/>
                  <a:pt x="190599" y="208062"/>
                  <a:pt x="190599" y="190500"/>
                </a:cubicBezTo>
                <a:cubicBezTo>
                  <a:pt x="190599" y="172938"/>
                  <a:pt x="176411" y="158750"/>
                  <a:pt x="158849" y="158750"/>
                </a:cubicBezTo>
                <a:lnTo>
                  <a:pt x="120848" y="158750"/>
                </a:lnTo>
                <a:cubicBezTo>
                  <a:pt x="153690" y="101798"/>
                  <a:pt x="215305" y="63500"/>
                  <a:pt x="285750" y="63500"/>
                </a:cubicBezTo>
                <a:close/>
                <a:moveTo>
                  <a:pt x="309562" y="150813"/>
                </a:moveTo>
                <a:cubicBezTo>
                  <a:pt x="309562" y="137616"/>
                  <a:pt x="298946" y="127000"/>
                  <a:pt x="285750" y="127000"/>
                </a:cubicBezTo>
                <a:cubicBezTo>
                  <a:pt x="272554" y="127000"/>
                  <a:pt x="261937" y="137616"/>
                  <a:pt x="261937" y="150813"/>
                </a:cubicBezTo>
                <a:lnTo>
                  <a:pt x="261937" y="254000"/>
                </a:lnTo>
                <a:cubicBezTo>
                  <a:pt x="261937" y="260350"/>
                  <a:pt x="264418" y="266402"/>
                  <a:pt x="268883" y="270867"/>
                </a:cubicBezTo>
                <a:lnTo>
                  <a:pt x="340320" y="342305"/>
                </a:lnTo>
                <a:cubicBezTo>
                  <a:pt x="349647" y="351631"/>
                  <a:pt x="364728" y="351631"/>
                  <a:pt x="373955" y="342305"/>
                </a:cubicBezTo>
                <a:cubicBezTo>
                  <a:pt x="383183" y="332978"/>
                  <a:pt x="383282" y="317897"/>
                  <a:pt x="373955" y="308670"/>
                </a:cubicBezTo>
                <a:lnTo>
                  <a:pt x="309463" y="244177"/>
                </a:lnTo>
                <a:lnTo>
                  <a:pt x="309463" y="150813"/>
                </a:lnTo>
                <a:close/>
              </a:path>
            </a:pathLst>
          </a:custGeom>
          <a:solidFill>
            <a:srgbClr val="5C8E8F"/>
          </a:solidFill>
          <a:ln/>
        </p:spPr>
      </p:sp>
      <p:sp>
        <p:nvSpPr>
          <p:cNvPr id="11" name="Text 9"/>
          <p:cNvSpPr/>
          <p:nvPr/>
        </p:nvSpPr>
        <p:spPr>
          <a:xfrm>
            <a:off x="9461500" y="2032000"/>
            <a:ext cx="546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历史污染 History Pollution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63000" y="2730500"/>
            <a:ext cx="6223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0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问题</a:t>
            </a:r>
            <a:r>
              <a:rPr lang="en-US" sz="20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：线性累积范式将错误修改持续传递</a:t>
            </a:r>
            <a:endParaRPr lang="en-US" sz="24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早期迭代错误被锁定在 </a:t>
            </a:r>
            <a:r>
              <a:rPr lang="en-US" sz="2000" b="1" dirty="0">
                <a:solidFill>
                  <a:srgbClr val="5C8E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历史记录</a:t>
            </a:r>
            <a:r>
              <a:rPr lang="en-US" sz="20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中</a:t>
            </a:r>
            <a:endParaRPr lang="en-US" sz="24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错误不断累积，无法自我恢复</a:t>
            </a:r>
            <a:endParaRPr lang="en-US" sz="24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分数停滞在局部最优，无法突破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16000" y="5461000"/>
            <a:ext cx="14224000" cy="1524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5C8E8F">
                  <a:alpha val="8000"/>
                </a:srgbClr>
              </a:gs>
              <a:gs pos="100000">
                <a:srgbClr val="5C8E8F">
                  <a:alpha val="2000"/>
                </a:srgbClr>
              </a:gs>
            </a:gsLst>
            <a:lin ang="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1454150" y="5842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5C8E8F"/>
          </a:solidFill>
          <a:ln/>
        </p:spPr>
      </p:sp>
      <p:sp>
        <p:nvSpPr>
          <p:cNvPr id="15" name="Text 13"/>
          <p:cNvSpPr/>
          <p:nvPr/>
        </p:nvSpPr>
        <p:spPr>
          <a:xfrm>
            <a:off x="2095500" y="5651500"/>
            <a:ext cx="1282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解决思路</a:t>
            </a:r>
            <a:r>
              <a:rPr lang="en-US" sz="24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：受PixelCraft的Planner-Critic架构启发，引入批判智能体审查优化轨迹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在检测到错误时触发回溯与分支 → 赋予系统</a:t>
            </a:r>
            <a:r>
              <a:rPr lang="en-US" sz="24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自校正能力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5C8E8F">
                  <a:alpha val="2000"/>
                </a:srgbClr>
              </a:gs>
              <a:gs pos="25000">
                <a:srgbClr val="5C8E8F">
                  <a:alpha val="8000"/>
                </a:srgbClr>
              </a:gs>
              <a:gs pos="50000">
                <a:srgbClr val="5C8E8F">
                  <a:alpha val="2000"/>
                </a:srgbClr>
              </a:gs>
              <a:gs pos="75000">
                <a:srgbClr val="5C8E8F">
                  <a:alpha val="8000"/>
                </a:srgbClr>
              </a:gs>
              <a:gs pos="100000">
                <a:srgbClr val="5C8E8F">
                  <a:alpha val="2000"/>
                </a:srgbClr>
              </a:gs>
            </a:gsLst>
            <a:lin ang="198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016000" y="2540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5C8E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3556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CriticPilot方案</a:t>
            </a:r>
          </a:p>
          <a:p>
            <a:pPr>
              <a:lnSpc>
                <a:spcPct val="120000"/>
              </a:lnSpc>
            </a:pPr>
            <a:r>
              <a:rPr lang="en-US" altLang="zh-CN" sz="4000" b="1">
                <a:solidFill>
                  <a:schemeClr val="tx1">
                    <a:lumMod val="50000"/>
                    <a:lumOff val="50000"/>
                  </a:schemeClr>
                </a:solidFill>
                <a:latin typeface="Liter" pitchFamily="34" charset="0"/>
              </a:rPr>
              <a:t>- </a:t>
            </a:r>
            <a:r>
              <a:rPr lang="zh-CN" altLang="en-US" sz="4000" b="1">
                <a:solidFill>
                  <a:schemeClr val="tx1">
                    <a:lumMod val="50000"/>
                    <a:lumOff val="50000"/>
                  </a:schemeClr>
                </a:solidFill>
                <a:latin typeface="Liter" pitchFamily="34" charset="0"/>
              </a:rPr>
              <a:t>方法创新性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016000" y="5370945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嵌入Planner-Critic机制的轻量级自校正框架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错误聚合器 · L1局部重试 · L3全局重置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0" y="3810000"/>
            <a:ext cx="1524000" cy="1524000"/>
          </a:xfrm>
          <a:prstGeom prst="diamond">
            <a:avLst/>
          </a:prstGeom>
          <a:solidFill>
            <a:srgbClr val="5C8E8F">
              <a:alpha val="12549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143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CriticPilot整体架构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2095500"/>
            <a:ext cx="2286000" cy="508000"/>
          </a:xfrm>
          <a:prstGeom prst="roundRect">
            <a:avLst>
              <a:gd name="adj" fmla="val 8000"/>
            </a:avLst>
          </a:prstGeom>
          <a:solidFill>
            <a:srgbClr val="5C8E8F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20955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提示词输入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81400" y="2247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5C8E8F"/>
          </a:solidFill>
          <a:ln/>
        </p:spPr>
      </p:sp>
      <p:sp>
        <p:nvSpPr>
          <p:cNvPr id="6" name="Shape 4"/>
          <p:cNvSpPr/>
          <p:nvPr/>
        </p:nvSpPr>
        <p:spPr>
          <a:xfrm>
            <a:off x="4064000" y="2095500"/>
            <a:ext cx="2286000" cy="508000"/>
          </a:xfrm>
          <a:prstGeom prst="roundRect">
            <a:avLst>
              <a:gd name="adj" fmla="val 8000"/>
            </a:avLst>
          </a:prstGeom>
          <a:solidFill>
            <a:srgbClr val="5C8E8F"/>
          </a:solidFill>
          <a:ln/>
        </p:spPr>
      </p:sp>
      <p:sp>
        <p:nvSpPr>
          <p:cNvPr id="7" name="Text 5"/>
          <p:cNvSpPr/>
          <p:nvPr/>
        </p:nvSpPr>
        <p:spPr>
          <a:xfrm>
            <a:off x="4064000" y="20955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图像生成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29400" y="2247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5C8E8F"/>
          </a:solidFill>
          <a:ln/>
        </p:spPr>
      </p:sp>
      <p:sp>
        <p:nvSpPr>
          <p:cNvPr id="9" name="Shape 7"/>
          <p:cNvSpPr/>
          <p:nvPr/>
        </p:nvSpPr>
        <p:spPr>
          <a:xfrm>
            <a:off x="7112000" y="2095500"/>
            <a:ext cx="2286000" cy="508000"/>
          </a:xfrm>
          <a:prstGeom prst="roundRect">
            <a:avLst>
              <a:gd name="adj" fmla="val 8000"/>
            </a:avLst>
          </a:prstGeom>
          <a:solidFill>
            <a:srgbClr val="7A878B"/>
          </a:solidFill>
          <a:ln/>
        </p:spPr>
      </p:sp>
      <p:sp>
        <p:nvSpPr>
          <p:cNvPr id="10" name="Text 8"/>
          <p:cNvSpPr/>
          <p:nvPr/>
        </p:nvSpPr>
        <p:spPr>
          <a:xfrm>
            <a:off x="7112000" y="20955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错误分析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77400" y="2247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5C8E8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0" y="2095500"/>
            <a:ext cx="5080000" cy="508000"/>
          </a:xfrm>
          <a:prstGeom prst="roundRect">
            <a:avLst>
              <a:gd name="adj" fmla="val 8000"/>
            </a:avLst>
          </a:prstGeom>
          <a:solidFill>
            <a:srgbClr val="E09F7D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0" y="2095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CriticPilot 自校正模块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3302000"/>
            <a:ext cx="4445000" cy="2286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70000" y="34925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95500" y="3492500"/>
            <a:ext cx="311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错误聚合器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70000" y="4064000"/>
            <a:ext cx="393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语义聚类去重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每片段错误数 ≤ 5条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压缩冗余一个数量级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05500" y="3302000"/>
            <a:ext cx="4445000" cy="2286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59500" y="34925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85000" y="3492500"/>
            <a:ext cx="311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 局部重试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59500" y="4064000"/>
            <a:ext cx="393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检测低质量轮次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候选数翻倍重新生成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低成本挽救劣质输出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795000" y="3302000"/>
            <a:ext cx="4445000" cy="2286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049000" y="34925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74500" y="3492500"/>
            <a:ext cx="311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L3 全局重置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049000" y="4064000"/>
            <a:ext cx="393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检测分数停滞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清空历史错误记录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跳出局部最优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16000" y="6096000"/>
            <a:ext cx="14224000" cy="1270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5C8E8F">
                  <a:alpha val="6000"/>
                </a:srgbClr>
              </a:gs>
              <a:gs pos="100000">
                <a:srgbClr val="5C8E8F">
                  <a:alpha val="2000"/>
                </a:srgbClr>
              </a:gs>
            </a:gsLst>
            <a:lin ang="0" scaled="1"/>
          </a:gradFill>
          <a:ln/>
        </p:spPr>
      </p:sp>
      <p:sp>
        <p:nvSpPr>
          <p:cNvPr id="27" name="Text 25"/>
          <p:cNvSpPr/>
          <p:nvPr/>
        </p:nvSpPr>
        <p:spPr>
          <a:xfrm>
            <a:off x="1397000" y="6286500"/>
            <a:ext cx="1346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设计思想</a:t>
            </a: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：借鉴PixelCraft的Planner-Critic架构，用错误聚合与分数停滞检测替代显式的Critic LLM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</a:t>
            </a:r>
            <a:r>
              <a:rPr lang="en-US" sz="20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轻量级方式</a:t>
            </a: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实现自校正能力，无额外LLM调用，架构改动极小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92334-EDBA-B0EC-E5D5-404D55E61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9B59A8-2100-7CC4-8EAF-4C6E4831B753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5C8E8F">
                  <a:alpha val="2000"/>
                </a:srgbClr>
              </a:gs>
              <a:gs pos="25000">
                <a:srgbClr val="5C8E8F">
                  <a:alpha val="8000"/>
                </a:srgbClr>
              </a:gs>
              <a:gs pos="50000">
                <a:srgbClr val="5C8E8F">
                  <a:alpha val="2000"/>
                </a:srgbClr>
              </a:gs>
              <a:gs pos="75000">
                <a:srgbClr val="5C8E8F">
                  <a:alpha val="8000"/>
                </a:srgbClr>
              </a:gs>
              <a:gs pos="100000">
                <a:srgbClr val="5C8E8F">
                  <a:alpha val="2000"/>
                </a:srgbClr>
              </a:gs>
            </a:gsLst>
            <a:lin ang="19800000" scaled="1"/>
          </a:gra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DEB83FF-7677-B84C-1985-4026F9EBA158}"/>
              </a:ext>
            </a:extLst>
          </p:cNvPr>
          <p:cNvSpPr/>
          <p:nvPr/>
        </p:nvSpPr>
        <p:spPr>
          <a:xfrm>
            <a:off x="1016000" y="332509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4800" b="1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流程图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94CEE04-EBAE-0B8E-2215-DE5E433919CE}"/>
              </a:ext>
            </a:extLst>
          </p:cNvPr>
          <p:cNvSpPr/>
          <p:nvPr/>
        </p:nvSpPr>
        <p:spPr>
          <a:xfrm>
            <a:off x="11430000" y="3810000"/>
            <a:ext cx="1524000" cy="1524000"/>
          </a:xfrm>
          <a:prstGeom prst="diamond">
            <a:avLst/>
          </a:prstGeom>
          <a:solidFill>
            <a:srgbClr val="5C8E8F">
              <a:alpha val="12549"/>
            </a:srgbClr>
          </a:solidFill>
          <a:ln/>
        </p:spPr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8410266-8C6D-E021-FC54-2F3054A6A5BE}"/>
              </a:ext>
            </a:extLst>
          </p:cNvPr>
          <p:cNvPicPr>
            <a:picLocks/>
          </p:cNvPicPr>
          <p:nvPr/>
        </p:nvPicPr>
        <p:blipFill>
          <a:blip r:embed="rId3"/>
          <a:srcRect l="3869" t="3637" r="3988" b="3637"/>
          <a:stretch>
            <a:fillRect/>
          </a:stretch>
        </p:blipFill>
        <p:spPr>
          <a:xfrm>
            <a:off x="4174834" y="166254"/>
            <a:ext cx="9291783" cy="881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5070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143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三大核心模块详解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714500"/>
            <a:ext cx="4572000" cy="3556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16000" y="1714500"/>
            <a:ext cx="4572000" cy="635000"/>
          </a:xfrm>
          <a:prstGeom prst="roundRect">
            <a:avLst>
              <a:gd name="adj" fmla="val 8000"/>
            </a:avLst>
          </a:prstGeom>
          <a:solidFill>
            <a:srgbClr val="5C8E8F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7145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错误聚合器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2540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accent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r>
              <a:rPr lang="en-US" dirty="0">
                <a:solidFill>
                  <a:schemeClr val="accent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：冗余错误导致优化目标发散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270000" y="2834986"/>
            <a:ext cx="406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语义聚类，按实体/属性去重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每片段错误数 ≤ 5条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效果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冗余压缩一个数量级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842000" y="1714500"/>
            <a:ext cx="4572000" cy="3556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42000" y="1714500"/>
            <a:ext cx="4572000" cy="635000"/>
          </a:xfrm>
          <a:prstGeom prst="roundRect">
            <a:avLst>
              <a:gd name="adj" fmla="val 8000"/>
            </a:avLst>
          </a:prstGeom>
          <a:solidFill>
            <a:srgbClr val="5C8E8F"/>
          </a:solidFill>
          <a:ln/>
        </p:spPr>
      </p:sp>
      <p:sp>
        <p:nvSpPr>
          <p:cNvPr id="10" name="Text 8"/>
          <p:cNvSpPr/>
          <p:nvPr/>
        </p:nvSpPr>
        <p:spPr>
          <a:xfrm>
            <a:off x="5842000" y="17145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 局部重试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0" y="2540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accent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r>
              <a:rPr lang="en-US" dirty="0">
                <a:solidFill>
                  <a:schemeClr val="accent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：采样随机性导致低质量轮次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0" y="2895600"/>
            <a:ext cx="406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</a:t>
            </a:r>
            <a:r>
              <a:rPr lang="en-US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：最高分 &lt; 13（满分15）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放弃本轮结果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候选数翻倍重新生成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微观层面分支探索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668000" y="1714500"/>
            <a:ext cx="4572000" cy="3556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668000" y="1714500"/>
            <a:ext cx="4572000" cy="635000"/>
          </a:xfrm>
          <a:prstGeom prst="roundRect">
            <a:avLst>
              <a:gd name="adj" fmla="val 8000"/>
            </a:avLst>
          </a:prstGeom>
          <a:solidFill>
            <a:srgbClr val="E09F7D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0" y="17145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L3 全局重置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22000" y="2540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accent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r>
              <a:rPr lang="en-US" dirty="0">
                <a:solidFill>
                  <a:schemeClr val="accent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：历史污染导致局部最优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922000" y="2871931"/>
            <a:ext cx="406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b="1" dirty="0">
                <a:solidFill>
                  <a:srgbClr val="E09F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</a:t>
            </a:r>
            <a:r>
              <a:rPr lang="en-US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：连续2轮提升 &lt; 1.0分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b="1" dirty="0">
                <a:solidFill>
                  <a:srgbClr val="E09F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清空历史错误记录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从当前最优重新开始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打破局部最优束缚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16000" y="5334000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模块协作机制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6000" y="5905500"/>
            <a:ext cx="14224000" cy="1651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70000" y="6223000"/>
            <a:ext cx="1346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错误聚合器</a:t>
            </a: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聚焦关键问题 → </a:t>
            </a:r>
            <a:r>
              <a:rPr lang="en-US" sz="20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L1局部重试</a:t>
            </a: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挽救劣质轮次 → </a:t>
            </a:r>
            <a:r>
              <a:rPr lang="en-US" sz="2000" b="1" dirty="0">
                <a:solidFill>
                  <a:srgbClr val="E09F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L3全局重置</a:t>
            </a: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跳出局部最优</a:t>
            </a:r>
            <a:endParaRPr lang="en-US" sz="24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三者形成</a:t>
            </a: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预处理-微观自救-宏观回溯</a:t>
            </a: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的完整自校正闭环，以</a:t>
            </a:r>
            <a:r>
              <a:rPr lang="en-US" sz="20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无额外LLM调用</a:t>
            </a: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的轻量方式实现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5C8E8F">
                  <a:alpha val="2000"/>
                </a:srgbClr>
              </a:gs>
              <a:gs pos="25000">
                <a:srgbClr val="5C8E8F">
                  <a:alpha val="8000"/>
                </a:srgbClr>
              </a:gs>
              <a:gs pos="50000">
                <a:srgbClr val="5C8E8F">
                  <a:alpha val="2000"/>
                </a:srgbClr>
              </a:gs>
              <a:gs pos="75000">
                <a:srgbClr val="5C8E8F">
                  <a:alpha val="8000"/>
                </a:srgbClr>
              </a:gs>
              <a:gs pos="100000">
                <a:srgbClr val="5C8E8F">
                  <a:alpha val="2000"/>
                </a:srgbClr>
              </a:gs>
            </a:gsLst>
            <a:lin ang="18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016000" y="2540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5C8E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3556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4800" b="1">
                <a:solidFill>
                  <a:srgbClr val="333C40"/>
                </a:solidFill>
                <a:latin typeface="Liter" pitchFamily="34" charset="0"/>
              </a:rPr>
              <a:t>结果展示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16000" y="4572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10个复杂提示词批次上的全面评估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验证CriticPilot的有效性与高效性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0" y="3810000"/>
            <a:ext cx="1524000" cy="1524000"/>
          </a:xfrm>
          <a:prstGeom prst="ellipse">
            <a:avLst/>
          </a:prstGeom>
          <a:solidFill>
            <a:srgbClr val="5C8E8F">
              <a:alpha val="12549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143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实验设置与评估指标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714500"/>
            <a:ext cx="6858000" cy="27305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70000" y="19050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模型与计算平台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2301010"/>
            <a:ext cx="635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错误分析</a:t>
            </a: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：Qwen3-VL-8B-Instruct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图像生成</a:t>
            </a: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：FLUX.1-schnell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框架基础</a:t>
            </a: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：GenPilot开源框架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代码实现</a:t>
            </a: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：基于GenPilot扩展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382000" y="1714500"/>
            <a:ext cx="6858000" cy="27305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36000" y="19050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测试数据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36000" y="2291775"/>
            <a:ext cx="635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10个测试批次</a:t>
            </a: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，每批若干复杂提示词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覆盖典型失败模式：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物体计数 · 空间关系 · 属性绑定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基线</a:t>
            </a: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：标准GenPilot流程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16000" y="4572000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评估指标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000" y="5207000"/>
            <a:ext cx="4445000" cy="1651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08100" y="5524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5C8E8F"/>
          </a:solidFill>
          <a:ln/>
        </p:spPr>
      </p:sp>
      <p:sp>
        <p:nvSpPr>
          <p:cNvPr id="12" name="Text 10"/>
          <p:cNvSpPr/>
          <p:nvPr/>
        </p:nvSpPr>
        <p:spPr>
          <a:xfrm>
            <a:off x="1905000" y="5397500"/>
            <a:ext cx="330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生成质量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多模态评分模型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满分15分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905500" y="5207000"/>
            <a:ext cx="4445000" cy="1651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23000" y="552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28600" y="76200"/>
                </a:moveTo>
                <a:cubicBezTo>
                  <a:pt x="228600" y="62181"/>
                  <a:pt x="217219" y="50800"/>
                  <a:pt x="203200" y="50800"/>
                </a:cubicBezTo>
                <a:cubicBezTo>
                  <a:pt x="189181" y="50800"/>
                  <a:pt x="177800" y="62181"/>
                  <a:pt x="177800" y="76200"/>
                </a:cubicBezTo>
                <a:cubicBezTo>
                  <a:pt x="177800" y="90219"/>
                  <a:pt x="189181" y="101600"/>
                  <a:pt x="203200" y="101600"/>
                </a:cubicBezTo>
                <a:cubicBezTo>
                  <a:pt x="217219" y="101600"/>
                  <a:pt x="228600" y="90219"/>
                  <a:pt x="228600" y="76200"/>
                </a:cubicBezTo>
                <a:close/>
                <a:moveTo>
                  <a:pt x="203200" y="330200"/>
                </a:moveTo>
                <a:cubicBezTo>
                  <a:pt x="231219" y="330200"/>
                  <a:pt x="254000" y="307419"/>
                  <a:pt x="254000" y="279400"/>
                </a:cubicBezTo>
                <a:cubicBezTo>
                  <a:pt x="254000" y="266541"/>
                  <a:pt x="249237" y="254714"/>
                  <a:pt x="241300" y="245824"/>
                </a:cubicBezTo>
                <a:lnTo>
                  <a:pt x="296466" y="135572"/>
                </a:lnTo>
                <a:cubicBezTo>
                  <a:pt x="301149" y="126127"/>
                  <a:pt x="297339" y="114697"/>
                  <a:pt x="287973" y="110014"/>
                </a:cubicBezTo>
                <a:cubicBezTo>
                  <a:pt x="278606" y="105331"/>
                  <a:pt x="267097" y="109141"/>
                  <a:pt x="262414" y="118507"/>
                </a:cubicBezTo>
                <a:lnTo>
                  <a:pt x="207248" y="228759"/>
                </a:lnTo>
                <a:cubicBezTo>
                  <a:pt x="205899" y="228679"/>
                  <a:pt x="204549" y="228600"/>
                  <a:pt x="203200" y="228600"/>
                </a:cubicBezTo>
                <a:cubicBezTo>
                  <a:pt x="175181" y="228600"/>
                  <a:pt x="152400" y="251381"/>
                  <a:pt x="152400" y="279400"/>
                </a:cubicBezTo>
                <a:cubicBezTo>
                  <a:pt x="152400" y="307419"/>
                  <a:pt x="175181" y="330200"/>
                  <a:pt x="203200" y="330200"/>
                </a:cubicBezTo>
                <a:close/>
                <a:moveTo>
                  <a:pt x="139700" y="114300"/>
                </a:moveTo>
                <a:cubicBezTo>
                  <a:pt x="139700" y="100281"/>
                  <a:pt x="128319" y="88900"/>
                  <a:pt x="114300" y="88900"/>
                </a:cubicBezTo>
                <a:cubicBezTo>
                  <a:pt x="100281" y="88900"/>
                  <a:pt x="88900" y="100281"/>
                  <a:pt x="88900" y="114300"/>
                </a:cubicBezTo>
                <a:cubicBezTo>
                  <a:pt x="88900" y="128319"/>
                  <a:pt x="100281" y="139700"/>
                  <a:pt x="114300" y="139700"/>
                </a:cubicBezTo>
                <a:cubicBezTo>
                  <a:pt x="128319" y="139700"/>
                  <a:pt x="139700" y="128319"/>
                  <a:pt x="139700" y="114300"/>
                </a:cubicBezTo>
                <a:close/>
                <a:moveTo>
                  <a:pt x="76200" y="228600"/>
                </a:moveTo>
                <a:cubicBezTo>
                  <a:pt x="90219" y="228600"/>
                  <a:pt x="101600" y="217219"/>
                  <a:pt x="101600" y="203200"/>
                </a:cubicBez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lose/>
                <a:moveTo>
                  <a:pt x="355600" y="203200"/>
                </a:moveTo>
                <a:cubicBezTo>
                  <a:pt x="355600" y="189181"/>
                  <a:pt x="344219" y="177800"/>
                  <a:pt x="330200" y="177800"/>
                </a:cubicBezTo>
                <a:cubicBezTo>
                  <a:pt x="316181" y="177800"/>
                  <a:pt x="304800" y="189181"/>
                  <a:pt x="304800" y="203200"/>
                </a:cubicBezTo>
                <a:cubicBezTo>
                  <a:pt x="304800" y="217219"/>
                  <a:pt x="316181" y="228600"/>
                  <a:pt x="330200" y="228600"/>
                </a:cubicBezTo>
                <a:cubicBezTo>
                  <a:pt x="344219" y="228600"/>
                  <a:pt x="355600" y="217219"/>
                  <a:pt x="355600" y="203200"/>
                </a:cubicBezTo>
                <a:close/>
              </a:path>
            </a:pathLst>
          </a:custGeom>
          <a:solidFill>
            <a:srgbClr val="5C8E8F"/>
          </a:solidFill>
          <a:ln/>
        </p:spPr>
      </p:sp>
      <p:sp>
        <p:nvSpPr>
          <p:cNvPr id="15" name="Text 13"/>
          <p:cNvSpPr/>
          <p:nvPr/>
        </p:nvSpPr>
        <p:spPr>
          <a:xfrm>
            <a:off x="6794500" y="5397500"/>
            <a:ext cx="330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计算开销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评估轮次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（Scored Rounds）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795000" y="5207000"/>
            <a:ext cx="4445000" cy="1651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112500" y="552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E09F7D"/>
          </a:solidFill>
          <a:ln/>
        </p:spPr>
      </p:sp>
      <p:sp>
        <p:nvSpPr>
          <p:cNvPr id="18" name="Text 16"/>
          <p:cNvSpPr/>
          <p:nvPr/>
        </p:nvSpPr>
        <p:spPr>
          <a:xfrm>
            <a:off x="11684000" y="5397500"/>
            <a:ext cx="330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机制活跃度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L1局部重试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L3全局重置触发次数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16000" y="72390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7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所有实验同时运行基线GenPilot与CriticPilot，确保公平对比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270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总体评分提升0.41分，90</a:t>
            </a:r>
            <a:r>
              <a:rPr lang="en-US" sz="3600" b="1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%批次正向收益</a:t>
            </a:r>
            <a:r>
              <a:rPr lang="zh-CN" altLang="en-US" sz="3600" b="1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（评分区间</a:t>
            </a:r>
            <a:r>
              <a:rPr lang="en-US" altLang="zh-CN" sz="3600" b="1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3~15</a:t>
            </a:r>
            <a:r>
              <a:rPr lang="zh-CN" altLang="en-US" sz="3600" b="1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）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714500"/>
            <a:ext cx="4318000" cy="2159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70000" y="19050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平均得分提升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23495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5C8E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+0.4118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70000" y="3149600"/>
            <a:ext cx="381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13.3485 → 13.7604（满分15）</a:t>
            </a:r>
            <a:endParaRPr lang="en-US" sz="1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715000" y="1651000"/>
          <a:ext cx="9525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1016000" y="5461000"/>
            <a:ext cx="14224000" cy="2921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5C8E8F">
                  <a:alpha val="6000"/>
                </a:srgbClr>
              </a:gs>
              <a:gs pos="100000">
                <a:srgbClr val="5C8E8F">
                  <a:alpha val="2000"/>
                </a:srgbClr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1397000" y="56515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关键发现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97000" y="6096000"/>
            <a:ext cx="13462000" cy="1990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r>
              <a:rPr lang="en-US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9/10批次</a:t>
            </a:r>
            <a:r>
              <a:rPr lang="en-US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录得正向收益</a:t>
            </a:r>
            <a:r>
              <a:rPr lang="en-US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，证明机制具有良好的泛化性</a:t>
            </a:r>
            <a:r>
              <a:rPr lang="zh-CN" altLang="en-US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，虽然数值并不特别高，因为原本的</a:t>
            </a:r>
            <a:r>
              <a:rPr lang="en-US" altLang="zh-CN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Genpilot</a:t>
            </a:r>
            <a:r>
              <a:rPr lang="zh-CN" altLang="en-US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的平均分已经达到</a:t>
            </a:r>
            <a:r>
              <a:rPr lang="en-US" altLang="zh-CN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r>
              <a:rPr lang="zh-CN" altLang="en-US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，所以对于原本就高分的任务提升不明显，但是对于原本低分的任务提升显著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r>
              <a:rPr lang="en-US" b="1" dirty="0">
                <a:solidFill>
                  <a:srgbClr val="E09F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Batch4</a:t>
            </a:r>
            <a:r>
              <a:rPr lang="en-US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增益最显著（Δ = +0.841），成功消除物体幻觉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仅Batch6基本持平（Δ = -0.033），基线已逼近上限导致微小回退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270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评估轮次减少1.5轮，增效不增本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714500"/>
            <a:ext cx="3175000" cy="2032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70000" y="190500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Baseline平均轮次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2349500"/>
            <a:ext cx="266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7A87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43.0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70000" y="311150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轮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714500"/>
            <a:ext cx="3175000" cy="2032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6000" y="190500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CriticPilot平均轮次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26000" y="2349500"/>
            <a:ext cx="266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5C8E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41.5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826000" y="311150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 减少1.5轮</a:t>
            </a:r>
            <a:endParaRPr lang="en-US" sz="16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8255000" y="1651000"/>
          <a:ext cx="6985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1016000" y="5334000"/>
            <a:ext cx="14224000" cy="2286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397000" y="55245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效率提升机制分析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97000" y="6032500"/>
            <a:ext cx="1346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0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L1局部重试</a:t>
            </a: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起到"剪枝"作用：避免无效低分轮次被计入并浪费后续优化资源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2000" b="1" dirty="0">
                <a:solidFill>
                  <a:srgbClr val="E09F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L3全局重置</a:t>
            </a: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起到"导航"作用：果断终止停滞路径，将计算资源重新投向更优搜索空间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核心洞察：</a:t>
            </a:r>
            <a:r>
              <a:rPr lang="en-US" sz="20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质量控制与错误回溯</a:t>
            </a:r>
            <a:r>
              <a:rPr lang="en-US" sz="20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比单纯堆叠迭代轮数更为重要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270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机制触发频率与典型案例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651000"/>
            <a:ext cx="14224000" cy="1016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97000" y="1778000"/>
            <a:ext cx="254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L1局部重试平均触发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97000" y="21336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14.2 次/批次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18000" y="1841500"/>
            <a:ext cx="25400" cy="635000"/>
          </a:xfrm>
          <a:prstGeom prst="rect">
            <a:avLst/>
          </a:prstGeom>
          <a:solidFill>
            <a:srgbClr val="DCDCDA"/>
          </a:solidFill>
          <a:ln/>
        </p:spPr>
      </p:sp>
      <p:sp>
        <p:nvSpPr>
          <p:cNvPr id="7" name="Text 5"/>
          <p:cNvSpPr/>
          <p:nvPr/>
        </p:nvSpPr>
        <p:spPr>
          <a:xfrm>
            <a:off x="4699000" y="1778000"/>
            <a:ext cx="254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L3全局重置平均触发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99000" y="21336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E09F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2.8 次/批次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74000" y="18415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L1高频说明原始优化常产生低质量候选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L3低频但意义重大，每次重置都使系统挣脱错误历史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000" y="2984500"/>
            <a:ext cx="6858000" cy="57531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16000" y="2984500"/>
            <a:ext cx="63500" cy="2540000"/>
          </a:xfrm>
          <a:prstGeom prst="rect">
            <a:avLst/>
          </a:prstGeom>
          <a:solidFill>
            <a:srgbClr val="5C8E8F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31496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成功案例 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33500" y="35306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精确计数约束（Batch1）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33500" y="3962400"/>
            <a:ext cx="622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原始提示</a:t>
            </a:r>
            <a:r>
              <a:rPr lang="en-US" sz="24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：卷心菜地，恰好8颗卷心菜，每颗有露珠</a:t>
            </a:r>
            <a:endParaRPr lang="en-US" sz="2800" dirty="0"/>
          </a:p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Baseline</a:t>
            </a:r>
            <a:r>
              <a:rPr lang="en-US" sz="24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：数量常偏离8，得分12分震荡</a:t>
            </a:r>
            <a:endParaRPr lang="en-US" sz="2800" dirty="0"/>
          </a:p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CriticPilot</a:t>
            </a:r>
            <a:r>
              <a:rPr lang="en-US" sz="24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：错误聚合聚焦"计数"与"可见度"</a:t>
            </a:r>
            <a:endParaRPr lang="en-US" sz="2800" dirty="0"/>
          </a:p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最高分从13跃升至15（满分）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382000" y="2984500"/>
            <a:ext cx="6858000" cy="57531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2000" y="2984500"/>
            <a:ext cx="63500" cy="2540000"/>
          </a:xfrm>
          <a:prstGeom prst="rect">
            <a:avLst/>
          </a:prstGeom>
          <a:solidFill>
            <a:srgbClr val="5C8E8F"/>
          </a:solidFill>
          <a:ln/>
        </p:spPr>
      </p:sp>
      <p:sp>
        <p:nvSpPr>
          <p:cNvPr id="17" name="Text 15"/>
          <p:cNvSpPr/>
          <p:nvPr/>
        </p:nvSpPr>
        <p:spPr>
          <a:xfrm>
            <a:off x="8699500" y="31496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成功案例 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99500" y="35306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消除物体幻觉（Batch4）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699500" y="3962400"/>
            <a:ext cx="622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原始提示</a:t>
            </a:r>
            <a:r>
              <a:rPr lang="en-US" sz="24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：银手镯放在棋盘上，不大于一格</a:t>
            </a:r>
            <a:endParaRPr lang="en-US" sz="2800" dirty="0"/>
          </a:p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Baseline</a:t>
            </a:r>
            <a:r>
              <a:rPr lang="en-US" sz="24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：将手镯幻觉为"听诊器"，尺寸失控</a:t>
            </a:r>
            <a:endParaRPr lang="en-US" sz="2800" dirty="0"/>
          </a:p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CriticPilot</a:t>
            </a:r>
            <a:r>
              <a:rPr lang="en-US" sz="24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：锁定"错误物体"和"尺寸失控"</a:t>
            </a:r>
            <a:endParaRPr lang="en-US" sz="2800" dirty="0"/>
          </a:p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Δ高达+0.841，稳定消除幻觉</a:t>
            </a:r>
            <a:endParaRPr lang="en-US" sz="28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FF506-68A0-3B5C-454F-CD03CB2D7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C7156C-1647-CC62-2114-DA2A748C3C7F}"/>
              </a:ext>
            </a:extLst>
          </p:cNvPr>
          <p:cNvSpPr/>
          <p:nvPr/>
        </p:nvSpPr>
        <p:spPr>
          <a:xfrm>
            <a:off x="1016000" y="762000"/>
            <a:ext cx="1270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机制触发频率与典型案例</a:t>
            </a:r>
            <a:endParaRPr lang="en-US" sz="36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A0A4AD2-F78F-D620-E4F5-F53C8D267E78}"/>
              </a:ext>
            </a:extLst>
          </p:cNvPr>
          <p:cNvSpPr/>
          <p:nvPr/>
        </p:nvSpPr>
        <p:spPr>
          <a:xfrm>
            <a:off x="637309" y="1782618"/>
            <a:ext cx="14602691" cy="6493164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E09F7D">
                  <a:alpha val="8000"/>
                </a:srgbClr>
              </a:gs>
              <a:gs pos="100000">
                <a:srgbClr val="E09F7D">
                  <a:alpha val="2000"/>
                </a:srgbClr>
              </a:gs>
            </a:gsLst>
            <a:lin ang="0" scaled="1"/>
          </a:gra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8A30445-522C-2438-5E76-ADD9D602E2CD}"/>
              </a:ext>
            </a:extLst>
          </p:cNvPr>
          <p:cNvSpPr/>
          <p:nvPr/>
        </p:nvSpPr>
        <p:spPr>
          <a:xfrm>
            <a:off x="1203037" y="2001405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E09F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异常值分析</a:t>
            </a: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38356DB-CE4B-13C3-FA05-08E42CC91AC0}"/>
              </a:ext>
            </a:extLst>
          </p:cNvPr>
          <p:cNvSpPr/>
          <p:nvPr/>
        </p:nvSpPr>
        <p:spPr>
          <a:xfrm>
            <a:off x="1161474" y="2387023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Batch6：过度修正的边界条件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66A56CF-700F-0880-3567-6558E90ACEB7}"/>
              </a:ext>
            </a:extLst>
          </p:cNvPr>
          <p:cNvSpPr/>
          <p:nvPr/>
        </p:nvSpPr>
        <p:spPr>
          <a:xfrm>
            <a:off x="1161474" y="2969492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Baseline已逼近性能上限时，Critic的强约束可能导致</a:t>
            </a:r>
            <a:r>
              <a:rPr lang="en-US" b="1" dirty="0">
                <a:solidFill>
                  <a:srgbClr val="E09F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过度修正</a:t>
            </a:r>
            <a:r>
              <a:rPr lang="en-US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（Δ=-0.033）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启示：未来可引入</a:t>
            </a:r>
            <a:r>
              <a:rPr lang="en-US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自适应干预策略</a:t>
            </a:r>
            <a:r>
              <a:rPr lang="en-US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，在优化后期降低重试与重置的激进程度</a:t>
            </a:r>
          </a:p>
          <a:p>
            <a:pPr>
              <a:lnSpc>
                <a:spcPct val="150000"/>
              </a:lnSpc>
            </a:pPr>
            <a:endParaRPr lang="en-US" altLang="zh-CN" sz="2000"/>
          </a:p>
          <a:p>
            <a:pPr>
              <a:lnSpc>
                <a:spcPct val="150000"/>
              </a:lnSpc>
            </a:pPr>
            <a:r>
              <a:rPr lang="zh-CN" altLang="en-US" sz="2000"/>
              <a:t>案例细节：提示词要求“</a:t>
            </a:r>
            <a:r>
              <a:rPr lang="en-US" sz="2000"/>
              <a:t>A vintage fan with a rounded base placed beside an antique knife on a wooden table”。Baseline</a:t>
            </a:r>
            <a:r>
              <a:rPr lang="zh-CN" altLang="en-US" sz="2000"/>
              <a:t>表现已较强，但</a:t>
            </a:r>
            <a:r>
              <a:rPr lang="en-US" sz="2000"/>
              <a:t>Critic</a:t>
            </a:r>
            <a:r>
              <a:rPr lang="zh-CN" altLang="en-US" sz="2000"/>
              <a:t>为强化风扇与刀的区分，采取了过于激进的排他性描述（如“</a:t>
            </a:r>
            <a:r>
              <a:rPr lang="en-US" sz="2000"/>
              <a:t>loose circular fan head / no pedestal base”），</a:t>
            </a:r>
            <a:r>
              <a:rPr lang="zh-CN" altLang="en-US" sz="2000"/>
              <a:t>这反而偏离了原始提示中关于“</a:t>
            </a:r>
            <a:r>
              <a:rPr lang="en-US" sz="2000"/>
              <a:t>rounded base”</a:t>
            </a:r>
            <a:r>
              <a:rPr lang="zh-CN" altLang="en-US" sz="2000"/>
              <a:t>的固有要求，导致部分轮次分数轻微下降。</a:t>
            </a:r>
          </a:p>
          <a:p>
            <a:pPr>
              <a:lnSpc>
                <a:spcPct val="150000"/>
              </a:lnSpc>
            </a:pP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根因与启示：当</a:t>
            </a:r>
            <a:r>
              <a:rPr lang="en-US" sz="2000"/>
              <a:t>Baseline</a:t>
            </a:r>
            <a:r>
              <a:rPr lang="zh-CN" altLang="en-US" sz="2000"/>
              <a:t>已逼近性能上限，或原始提示本身存在语义歧义时，</a:t>
            </a:r>
            <a:r>
              <a:rPr lang="en-US" sz="2000"/>
              <a:t>Critic</a:t>
            </a:r>
            <a:r>
              <a:rPr lang="zh-CN" altLang="en-US" sz="2000"/>
              <a:t>的强约束可能导致过度修正。该边界条件揭示：未来可引入自适应干预策略，在优化后期适当降低重试与重置的激进程度，以避免因过度拟合错误信号而引入新矛盾。总体而言，</a:t>
            </a:r>
            <a:r>
              <a:rPr lang="en-US" sz="2000"/>
              <a:t>Batch6</a:t>
            </a:r>
            <a:r>
              <a:rPr lang="zh-CN" altLang="en-US" sz="2000"/>
              <a:t>更应被视为“</a:t>
            </a:r>
            <a:r>
              <a:rPr lang="en-US" sz="2000"/>
              <a:t>Critic</a:t>
            </a:r>
            <a:r>
              <a:rPr lang="zh-CN" altLang="en-US" sz="2000"/>
              <a:t>与</a:t>
            </a:r>
            <a:r>
              <a:rPr lang="en-US" sz="2000"/>
              <a:t>Baseline</a:t>
            </a:r>
            <a:r>
              <a:rPr lang="zh-CN" altLang="en-US" sz="2000"/>
              <a:t>基本持平”，而非显著失败。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0276658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E09F7D">
                  <a:alpha val="2000"/>
                </a:srgbClr>
              </a:gs>
              <a:gs pos="25000">
                <a:srgbClr val="E09F7D">
                  <a:alpha val="8000"/>
                </a:srgbClr>
              </a:gs>
              <a:gs pos="50000">
                <a:srgbClr val="E09F7D">
                  <a:alpha val="2000"/>
                </a:srgbClr>
              </a:gs>
              <a:gs pos="75000">
                <a:srgbClr val="E09F7D">
                  <a:alpha val="8000"/>
                </a:srgbClr>
              </a:gs>
              <a:gs pos="100000">
                <a:srgbClr val="E09F7D">
                  <a:alpha val="2000"/>
                </a:srgbClr>
              </a:gs>
            </a:gsLst>
            <a:lin ang="198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016000" y="2540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9F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3556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结论与展望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16000" y="4572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CriticPilot的核心价值总结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未来研究方向与改进空间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0" y="3810000"/>
            <a:ext cx="1524000" cy="1524000"/>
          </a:xfrm>
          <a:prstGeom prst="diamond">
            <a:avLst/>
          </a:prstGeom>
          <a:solidFill>
            <a:srgbClr val="E09F7D">
              <a:alpha val="12549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143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核心结论与未来工作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16000" y="16510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三大核心价值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2222500"/>
            <a:ext cx="4445000" cy="1778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70000" y="2413000"/>
            <a:ext cx="393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增效不增本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30480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轮次减少1.5轮的前提下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得分提升</a:t>
            </a:r>
            <a:r>
              <a:rPr lang="en-US" sz="15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0.41分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05500" y="2222500"/>
            <a:ext cx="4445000" cy="1778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59500" y="2413000"/>
            <a:ext cx="393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上下限双提升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59500" y="30480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L1稳固性能下限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L3拔高分数上限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95000" y="2222500"/>
            <a:ext cx="4445000" cy="1778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049000" y="2413000"/>
            <a:ext cx="393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09F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高鲁棒性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49000" y="30480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90%批次正向收益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未发生系统崩溃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3180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主要贡献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4889500"/>
            <a:ext cx="14224000" cy="165100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/>
          <a:effectLst>
            <a:outerShdw blurRad="1016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97000" y="5080000"/>
            <a:ext cx="1346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</a:t>
            </a:r>
            <a:r>
              <a:rPr lang="en-US" sz="15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识别了GenPilot线性优化流程中的</a:t>
            </a:r>
            <a:r>
              <a:rPr lang="en-US" sz="15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错误过载</a:t>
            </a:r>
            <a:r>
              <a:rPr lang="en-US" sz="15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</a:t>
            </a:r>
            <a:r>
              <a:rPr lang="en-US" sz="15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历史污染</a:t>
            </a:r>
            <a:r>
              <a:rPr lang="en-US" sz="15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两大瓶颈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</a:t>
            </a:r>
            <a:r>
              <a:rPr lang="en-US" sz="15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提出CriticPilot，包含错误聚合器、L1局部重试与L3全局重置的</a:t>
            </a:r>
            <a:r>
              <a:rPr lang="en-US" sz="15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轻量级自校正框架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</a:t>
            </a:r>
            <a:r>
              <a:rPr lang="en-US" sz="15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在多个复杂提示词批次上验证了所提机制的</a:t>
            </a:r>
            <a:r>
              <a:rPr lang="en-US" sz="15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有效性与高效性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67945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未来工作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6000" y="7302500"/>
            <a:ext cx="14224000" cy="889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5C8E8F">
                  <a:alpha val="6000"/>
                </a:srgbClr>
              </a:gs>
              <a:gs pos="100000">
                <a:srgbClr val="5C8E8F">
                  <a:alpha val="2000"/>
                </a:srgbClr>
              </a:gs>
            </a:gsLst>
            <a:lin ang="0" scaled="1"/>
          </a:gradFill>
          <a:ln/>
        </p:spPr>
      </p:sp>
      <p:sp>
        <p:nvSpPr>
          <p:cNvPr id="18" name="Text 16"/>
          <p:cNvSpPr/>
          <p:nvPr/>
        </p:nvSpPr>
        <p:spPr>
          <a:xfrm>
            <a:off x="1397000" y="74295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探索</a:t>
            </a:r>
            <a:r>
              <a:rPr lang="en-US" sz="1600" b="1" dirty="0">
                <a:solidFill>
                  <a:srgbClr val="5C8E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自适应干预策略</a:t>
            </a:r>
            <a:r>
              <a:rPr lang="en-US" sz="1600" dirty="0">
                <a:solidFill>
                  <a:srgbClr val="333C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：在优化后期适当降低重试与重置的激进程度，避免因过度拟合错误信号而引入新矛盾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26003-E378-03F0-CEF4-D65DACDF2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42C70E-DCCA-6709-B31B-7E7C96BCB15F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E09F7D">
                  <a:alpha val="2000"/>
                </a:srgbClr>
              </a:gs>
              <a:gs pos="25000">
                <a:srgbClr val="E09F7D">
                  <a:alpha val="8000"/>
                </a:srgbClr>
              </a:gs>
              <a:gs pos="50000">
                <a:srgbClr val="E09F7D">
                  <a:alpha val="2000"/>
                </a:srgbClr>
              </a:gs>
              <a:gs pos="75000">
                <a:srgbClr val="E09F7D">
                  <a:alpha val="8000"/>
                </a:srgbClr>
              </a:gs>
              <a:gs pos="100000">
                <a:srgbClr val="E09F7D">
                  <a:alpha val="2000"/>
                </a:srgbClr>
              </a:gs>
            </a:gsLst>
            <a:lin ang="19800000" scaled="1"/>
          </a:gra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3DF284-04EA-C6E8-DDD9-C347A6D392BE}"/>
              </a:ext>
            </a:extLst>
          </p:cNvPr>
          <p:cNvSpPr/>
          <p:nvPr/>
        </p:nvSpPr>
        <p:spPr>
          <a:xfrm>
            <a:off x="1016000" y="2540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E09F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r>
              <a:rPr lang="en-US" altLang="zh-CN" sz="4800" b="1">
                <a:solidFill>
                  <a:srgbClr val="E09F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5A330CE-FD01-FC38-196B-340E4EF16E4C}"/>
              </a:ext>
            </a:extLst>
          </p:cNvPr>
          <p:cNvSpPr/>
          <p:nvPr/>
        </p:nvSpPr>
        <p:spPr>
          <a:xfrm>
            <a:off x="1016000" y="3556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4800" b="1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人员分工</a:t>
            </a:r>
            <a:endParaRPr lang="en-US" sz="4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0422711-214E-F0B1-808A-337D4F9168B2}"/>
              </a:ext>
            </a:extLst>
          </p:cNvPr>
          <p:cNvSpPr/>
          <p:nvPr/>
        </p:nvSpPr>
        <p:spPr>
          <a:xfrm>
            <a:off x="11430000" y="3810000"/>
            <a:ext cx="1524000" cy="1524000"/>
          </a:xfrm>
          <a:prstGeom prst="diamond">
            <a:avLst/>
          </a:prstGeom>
          <a:solidFill>
            <a:srgbClr val="E09F7D">
              <a:alpha val="12549"/>
            </a:srgbClr>
          </a:solidFill>
          <a:ln/>
        </p:spPr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BCC0076-44C1-1633-C067-92434752739E}"/>
              </a:ext>
            </a:extLst>
          </p:cNvPr>
          <p:cNvSpPr txBox="1"/>
          <p:nvPr/>
        </p:nvSpPr>
        <p:spPr>
          <a:xfrm>
            <a:off x="4433455" y="2521727"/>
            <a:ext cx="10427854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/>
              <a:t>颜皓鹏 24300240240</a:t>
            </a:r>
            <a:r>
              <a:rPr lang="zh-CN" altLang="en-US" sz="3200"/>
              <a:t>：实现CriticPilot代码，执行测试，记录数据</a:t>
            </a:r>
          </a:p>
          <a:p>
            <a:endParaRPr lang="en-US" altLang="zh-CN" sz="3200"/>
          </a:p>
          <a:p>
            <a:r>
              <a:rPr lang="zh-CN" altLang="en-US" sz="3600" b="1"/>
              <a:t>李泽栋 23307130271</a:t>
            </a:r>
            <a:r>
              <a:rPr lang="zh-CN" altLang="en-US" sz="3200"/>
              <a:t>：设计实验计划，搭建基本项目代码框架，编写实验报告和汇报</a:t>
            </a:r>
            <a:r>
              <a:rPr lang="en-US" altLang="zh-CN" sz="3200"/>
              <a:t>ppt</a:t>
            </a:r>
          </a:p>
          <a:p>
            <a:endParaRPr lang="en-US" altLang="zh-CN" sz="3200"/>
          </a:p>
          <a:p>
            <a:r>
              <a:rPr lang="zh-CN" altLang="en-US" sz="3600" b="1"/>
              <a:t>沈子轩 24300240213</a:t>
            </a:r>
            <a:r>
              <a:rPr lang="zh-CN" altLang="en-US" sz="3200"/>
              <a:t>：分析数据，整理结果</a:t>
            </a:r>
            <a:endParaRPr lang="en-US" altLang="zh-CN" sz="3200"/>
          </a:p>
          <a:p>
            <a:endParaRPr lang="en-US" altLang="zh-CN" sz="3200"/>
          </a:p>
          <a:p>
            <a:r>
              <a:rPr lang="zh-CN" altLang="en-US" sz="3200" b="1"/>
              <a:t>朱雅伦 </a:t>
            </a:r>
            <a:r>
              <a:rPr lang="en-US" altLang="zh-CN" sz="3200" b="1"/>
              <a:t>24300240187</a:t>
            </a:r>
            <a:r>
              <a:rPr lang="zh-CN" altLang="en-US" sz="3200"/>
              <a:t>：写报告</a:t>
            </a:r>
          </a:p>
          <a:p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230403254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286000"/>
          </a:xfrm>
          <a:prstGeom prst="rect">
            <a:avLst/>
          </a:prstGeom>
          <a:gradFill flip="none" rotWithShape="1">
            <a:gsLst>
              <a:gs pos="0">
                <a:srgbClr val="5C8E8F">
                  <a:alpha val="2000"/>
                </a:srgbClr>
              </a:gs>
              <a:gs pos="25000">
                <a:srgbClr val="5C8E8F">
                  <a:alpha val="6000"/>
                </a:srgbClr>
              </a:gs>
              <a:gs pos="50000">
                <a:srgbClr val="5C8E8F">
                  <a:alpha val="2000"/>
                </a:srgbClr>
              </a:gs>
              <a:gs pos="75000">
                <a:srgbClr val="5C8E8F">
                  <a:alpha val="6000"/>
                </a:srgbClr>
              </a:gs>
              <a:gs pos="100000">
                <a:srgbClr val="5C8E8F">
                  <a:alpha val="2000"/>
                </a:srgbClr>
              </a:gs>
            </a:gsLst>
            <a:lin ang="27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016000" y="3302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谢谢聆听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223000" y="4318000"/>
            <a:ext cx="3810000" cy="25400"/>
          </a:xfrm>
          <a:prstGeom prst="rect">
            <a:avLst/>
          </a:prstGeom>
          <a:solidFill>
            <a:srgbClr val="5C8E8F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6990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CriticPilot — 轻量高效的测试时提示优化自校正框架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代码开源：</a:t>
            </a:r>
            <a:r>
              <a:rPr lang="en-US" sz="1800" u="sng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github.com/zdleeeeee/PlannerCritic-GenPilot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858000"/>
            <a:ext cx="16256000" cy="2286000"/>
          </a:xfrm>
          <a:prstGeom prst="rect">
            <a:avLst/>
          </a:prstGeom>
          <a:gradFill flip="none" rotWithShape="1">
            <a:gsLst>
              <a:gs pos="0">
                <a:srgbClr val="5C8E8F">
                  <a:alpha val="2000"/>
                </a:srgbClr>
              </a:gs>
              <a:gs pos="25000">
                <a:srgbClr val="5C8E8F">
                  <a:alpha val="6000"/>
                </a:srgbClr>
              </a:gs>
              <a:gs pos="50000">
                <a:srgbClr val="5C8E8F">
                  <a:alpha val="2000"/>
                </a:srgbClr>
              </a:gs>
              <a:gs pos="75000">
                <a:srgbClr val="5C8E8F">
                  <a:alpha val="6000"/>
                </a:srgbClr>
              </a:gs>
              <a:gs pos="100000">
                <a:srgbClr val="5C8E8F">
                  <a:alpha val="2000"/>
                </a:srgbClr>
              </a:gs>
            </a:gsLst>
            <a:lin ang="18900000" scaled="1"/>
          </a:gradFill>
          <a:ln/>
        </p:spPr>
      </p:sp>
      <p:sp>
        <p:nvSpPr>
          <p:cNvPr id="7" name="Text 5"/>
          <p:cNvSpPr/>
          <p:nvPr/>
        </p:nvSpPr>
        <p:spPr>
          <a:xfrm>
            <a:off x="4318000" y="7874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A87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李泽栋 · 颜皓鹏 · 沈子轩 · 朱雅伦 | 复旦大学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941</Words>
  <Application>Microsoft Office PowerPoint</Application>
  <PresentationFormat>自定义</PresentationFormat>
  <Paragraphs>220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Liter</vt:lpstr>
      <vt:lpstr>微软雅黑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CriticPilot: GenPilot with Planner-Critic Mechanism</dc:title>
  <dc:subject>CriticPilot: GenPilot with Planner-Critic Mechanism</dc:subject>
  <dc:creator>Kimi</dc:creator>
  <cp:lastModifiedBy>泽栋 李</cp:lastModifiedBy>
  <cp:revision>7</cp:revision>
  <dcterms:created xsi:type="dcterms:W3CDTF">2026-06-10T14:42:28Z</dcterms:created>
  <dcterms:modified xsi:type="dcterms:W3CDTF">2026-06-10T15:58:18Z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{"Label":"CriticPilot: GenPilot with Planner-Critic Mechanism","ContentProducer":"001191110108MACG2KBH8F10000","ProduceID":"19eb1fb5-e9a2-8a38-8000-00002a88879a","ReservedCode1":"","ContentPropagator":"001191110108MACG2KBH8F20000","PropagateID":"19eb1fb5-e9a2-8a38-8000-00002a88879a","ReservedCode2":""}</vt:lpwstr>
  </property>
</Properties>
</file>